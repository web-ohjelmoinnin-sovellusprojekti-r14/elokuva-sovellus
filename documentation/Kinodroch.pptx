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sldIdLst>
    <p:sldId id="270" r:id="rId2"/>
    <p:sldId id="271" r:id="rId3"/>
    <p:sldId id="272" r:id="rId4"/>
    <p:sldId id="273" r:id="rId5"/>
    <p:sldId id="274" r:id="rId6"/>
    <p:sldId id="275" r:id="rId7"/>
    <p:sldId id="276" r:id="rId8"/>
    <p:sldId id="277" r:id="rId9"/>
    <p:sldId id="278" r:id="rId10"/>
    <p:sldId id="279" r:id="rId11"/>
    <p:sldId id="280" r:id="rId12"/>
    <p:sldId id="290" r:id="rId13"/>
    <p:sldId id="292" r:id="rId14"/>
    <p:sldId id="281" r:id="rId1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7" name="Равнобедренный треугольник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Заголовок 7"/>
          <p:cNvSpPr>
            <a:spLocks noGrp="1"/>
          </p:cNvSpPr>
          <p:nvPr>
            <p:ph type="ctrTitle"/>
          </p:nvPr>
        </p:nvSpPr>
        <p:spPr>
          <a:xfrm>
            <a:off x="540544" y="776288"/>
            <a:ext cx="8062912" cy="1470025"/>
          </a:xfrm>
        </p:spPr>
        <p:txBody>
          <a:bodyPr anchor="b">
            <a:normAutofit/>
          </a:bodyPr>
          <a:lstStyle>
            <a:lvl1pPr algn="r">
              <a:defRPr sz="4400"/>
            </a:lvl1pPr>
          </a:lstStyle>
          <a:p>
            <a:r>
              <a:rPr kumimoji="0" lang="ru-RU"/>
              <a:t>Образец заголовка</a:t>
            </a:r>
            <a:endParaRPr kumimoji="0" lang="en-US"/>
          </a:p>
        </p:txBody>
      </p:sp>
      <p:sp>
        <p:nvSpPr>
          <p:cNvPr id="9" name="Подзаголовок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a:t>Образец подзаголовка</a:t>
            </a:r>
            <a:endParaRPr kumimoji="0" lang="en-US"/>
          </a:p>
        </p:txBody>
      </p:sp>
      <p:sp>
        <p:nvSpPr>
          <p:cNvPr id="28" name="Дата 27"/>
          <p:cNvSpPr>
            <a:spLocks noGrp="1"/>
          </p:cNvSpPr>
          <p:nvPr>
            <p:ph type="dt" sz="half" idx="10"/>
          </p:nvPr>
        </p:nvSpPr>
        <p:spPr>
          <a:xfrm>
            <a:off x="1371600" y="6012656"/>
            <a:ext cx="5791200" cy="365125"/>
          </a:xfrm>
        </p:spPr>
        <p:txBody>
          <a:bodyPr tIns="0" bIns="0" anchor="t"/>
          <a:lstStyle>
            <a:lvl1pPr algn="r">
              <a:defRPr sz="1000"/>
            </a:lvl1pPr>
          </a:lstStyle>
          <a:p>
            <a:fld id="{B4C71EC6-210F-42DE-9C53-41977AD35B3D}" type="datetimeFigureOut">
              <a:rPr lang="ru-RU" smtClean="0"/>
              <a:t>18.12.2025</a:t>
            </a:fld>
            <a:endParaRPr lang="ru-RU"/>
          </a:p>
        </p:txBody>
      </p:sp>
      <p:sp>
        <p:nvSpPr>
          <p:cNvPr id="17" name="Нижний колонтитул 16"/>
          <p:cNvSpPr>
            <a:spLocks noGrp="1"/>
          </p:cNvSpPr>
          <p:nvPr>
            <p:ph type="ftr" sz="quarter" idx="11"/>
          </p:nvPr>
        </p:nvSpPr>
        <p:spPr>
          <a:xfrm>
            <a:off x="1371600" y="5650704"/>
            <a:ext cx="5791200" cy="365125"/>
          </a:xfrm>
        </p:spPr>
        <p:txBody>
          <a:bodyPr tIns="0" bIns="0" anchor="b"/>
          <a:lstStyle>
            <a:lvl1pPr algn="r">
              <a:defRPr sz="1100"/>
            </a:lvl1pPr>
          </a:lstStyle>
          <a:p>
            <a:endParaRPr lang="ru-RU"/>
          </a:p>
        </p:txBody>
      </p:sp>
      <p:sp>
        <p:nvSpPr>
          <p:cNvPr id="29" name="Номер слайда 28"/>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7494"/>
            <a:ext cx="8229600" cy="1399032"/>
          </a:xfrm>
        </p:spPr>
        <p:txBody>
          <a:bodyPr/>
          <a:lstStyle/>
          <a:p>
            <a:r>
              <a:rPr kumimoji="0" lang="ru-RU"/>
              <a:t>Образец заголовка</a:t>
            </a:r>
            <a:endParaRPr kumimoji="0" lang="en-US"/>
          </a:p>
        </p:txBody>
      </p:sp>
      <p:sp>
        <p:nvSpPr>
          <p:cNvPr id="3" name="Объект 2"/>
          <p:cNvSpPr>
            <a:spLocks noGrp="1"/>
          </p:cNvSpPr>
          <p:nvPr>
            <p:ph idx="1"/>
          </p:nvPr>
        </p:nvSpPr>
        <p:spPr>
          <a:xfrm>
            <a:off x="457200" y="1882808"/>
            <a:ext cx="8229600" cy="4572000"/>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a:xfrm>
            <a:off x="4791456" y="6480048"/>
            <a:ext cx="2133600" cy="301752"/>
          </a:xfrm>
        </p:spPr>
        <p:txBody>
          <a:bodyPr/>
          <a:lstStyle/>
          <a:p>
            <a:fld id="{B4C71EC6-210F-42DE-9C53-41977AD35B3D}" type="datetimeFigureOut">
              <a:rPr lang="ru-RU" smtClean="0"/>
              <a:t>18.12.2025</a:t>
            </a:fld>
            <a:endParaRPr lang="ru-RU"/>
          </a:p>
        </p:txBody>
      </p:sp>
      <p:sp>
        <p:nvSpPr>
          <p:cNvPr id="5" name="Нижний колонтитул 4"/>
          <p:cNvSpPr>
            <a:spLocks noGrp="1"/>
          </p:cNvSpPr>
          <p:nvPr>
            <p:ph type="ftr" sz="quarter" idx="11"/>
          </p:nvPr>
        </p:nvSpPr>
        <p:spPr>
          <a:xfrm>
            <a:off x="457200" y="6480969"/>
            <a:ext cx="4260056" cy="300831"/>
          </a:xfrm>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2">
        <a:schemeClr val="bg1"/>
      </p:bgRef>
    </p:bg>
    <p:spTree>
      <p:nvGrpSpPr>
        <p:cNvPr id="1" name=""/>
        <p:cNvGrpSpPr/>
        <p:nvPr/>
      </p:nvGrpSpPr>
      <p:grpSpPr>
        <a:xfrm>
          <a:off x="0" y="0"/>
          <a:ext cx="0" cy="0"/>
          <a:chOff x="0" y="0"/>
          <a:chExt cx="0" cy="0"/>
        </a:xfrm>
      </p:grpSpPr>
      <p:sp>
        <p:nvSpPr>
          <p:cNvPr id="9" name="Прямоугольный треугольник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Равнобедренный треугольник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Дата 3"/>
          <p:cNvSpPr>
            <a:spLocks noGrp="1"/>
          </p:cNvSpPr>
          <p:nvPr>
            <p:ph type="dt" sz="half" idx="10"/>
          </p:nvPr>
        </p:nvSpPr>
        <p:spPr>
          <a:xfrm>
            <a:off x="6955632" y="6477000"/>
            <a:ext cx="2133600" cy="304800"/>
          </a:xfrm>
        </p:spPr>
        <p:txBody>
          <a:bodyPr/>
          <a:lstStyle/>
          <a:p>
            <a:fld id="{B4C71EC6-210F-42DE-9C53-41977AD35B3D}" type="datetimeFigureOut">
              <a:rPr lang="ru-RU" smtClean="0"/>
              <a:t>18.12.2025</a:t>
            </a:fld>
            <a:endParaRPr lang="ru-RU"/>
          </a:p>
        </p:txBody>
      </p:sp>
      <p:sp>
        <p:nvSpPr>
          <p:cNvPr id="5" name="Нижний колонтитул 4"/>
          <p:cNvSpPr>
            <a:spLocks noGrp="1"/>
          </p:cNvSpPr>
          <p:nvPr>
            <p:ph type="ftr" sz="quarter" idx="11"/>
          </p:nvPr>
        </p:nvSpPr>
        <p:spPr>
          <a:xfrm>
            <a:off x="2619376" y="6480969"/>
            <a:ext cx="4260056" cy="300831"/>
          </a:xfrm>
        </p:spPr>
        <p:txBody>
          <a:bodyPr/>
          <a:lstStyle/>
          <a:p>
            <a:endParaRPr lang="ru-RU"/>
          </a:p>
        </p:txBody>
      </p:sp>
      <p:sp>
        <p:nvSpPr>
          <p:cNvPr id="6" name="Номер слайда 5"/>
          <p:cNvSpPr>
            <a:spLocks noGrp="1"/>
          </p:cNvSpPr>
          <p:nvPr>
            <p:ph type="sldNum" sz="quarter" idx="12"/>
          </p:nvPr>
        </p:nvSpPr>
        <p:spPr>
          <a:xfrm>
            <a:off x="8451056" y="809624"/>
            <a:ext cx="502920" cy="300831"/>
          </a:xfrm>
        </p:spPr>
        <p:txBody>
          <a:bodyPr/>
          <a:lstStyle/>
          <a:p>
            <a:fld id="{B19B0651-EE4F-4900-A07F-96A6BFA9D0F0}" type="slidenum">
              <a:rPr lang="ru-RU" smtClean="0"/>
              <a:t>‹#›</a:t>
            </a:fld>
            <a:endParaRPr lang="ru-RU"/>
          </a:p>
        </p:txBody>
      </p:sp>
      <p:cxnSp>
        <p:nvCxnSpPr>
          <p:cNvPr id="11" name="Прямая соединительная линия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Прямая соединительная линия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Заголовок 1"/>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ru-RU"/>
              <a:t>Образец заголовка</a:t>
            </a:r>
            <a:endParaRPr kumimoji="0" lang="en-US"/>
          </a:p>
        </p:txBody>
      </p:sp>
      <p:sp>
        <p:nvSpPr>
          <p:cNvPr id="3" name="Текст 2"/>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a:t>Образец текста</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marL="0" algn="l">
              <a:defRPr/>
            </a:lvl1pPr>
          </a:lstStyle>
          <a:p>
            <a:r>
              <a:rPr kumimoji="0" lang="ru-RU"/>
              <a:t>Образец заголовка</a:t>
            </a:r>
            <a:endParaRPr kumimoji="0" lang="en-US"/>
          </a:p>
        </p:txBody>
      </p:sp>
      <p:sp>
        <p:nvSpPr>
          <p:cNvPr id="3" name="Объект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Объект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a:xfrm>
            <a:off x="4791456" y="6480969"/>
            <a:ext cx="2133600" cy="301752"/>
          </a:xfrm>
        </p:spPr>
        <p:txBody>
          <a:bodyPr/>
          <a:lstStyle/>
          <a:p>
            <a:fld id="{B4C71EC6-210F-42DE-9C53-41977AD35B3D}" type="datetimeFigureOut">
              <a:rPr lang="ru-RU" smtClean="0"/>
              <a:t>18.12.2025</a:t>
            </a:fld>
            <a:endParaRPr lang="ru-RU"/>
          </a:p>
        </p:txBody>
      </p:sp>
      <p:sp>
        <p:nvSpPr>
          <p:cNvPr id="6" name="Нижний колонтитул 5"/>
          <p:cNvSpPr>
            <a:spLocks noGrp="1"/>
          </p:cNvSpPr>
          <p:nvPr>
            <p:ph type="ftr" sz="quarter" idx="11"/>
          </p:nvPr>
        </p:nvSpPr>
        <p:spPr>
          <a:xfrm>
            <a:off x="457200" y="6480969"/>
            <a:ext cx="4260056" cy="301752"/>
          </a:xfrm>
        </p:spPr>
        <p:txBody>
          <a:bodyPr/>
          <a:lstStyle/>
          <a:p>
            <a:endParaRPr lang="ru-RU"/>
          </a:p>
        </p:txBody>
      </p:sp>
      <p:sp>
        <p:nvSpPr>
          <p:cNvPr id="7" name="Номер слайда 6"/>
          <p:cNvSpPr>
            <a:spLocks noGrp="1"/>
          </p:cNvSpPr>
          <p:nvPr>
            <p:ph type="sldNum" sz="quarter" idx="12"/>
          </p:nvPr>
        </p:nvSpPr>
        <p:spPr>
          <a:xfrm>
            <a:off x="7589520" y="6480969"/>
            <a:ext cx="502920" cy="301752"/>
          </a:xfrm>
        </p:spPr>
        <p:txBody>
          <a:bodyPr/>
          <a:lstStyle/>
          <a:p>
            <a:fld id="{B19B0651-EE4F-4900-A07F-96A6BFA9D0F0}"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bg>
      <p:bgRef idx="1002">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ru-RU"/>
              <a:t>Образец заголовка</a:t>
            </a:r>
            <a:endParaRPr kumimoji="0" lang="en-US"/>
          </a:p>
        </p:txBody>
      </p:sp>
      <p:sp>
        <p:nvSpPr>
          <p:cNvPr id="3" name="Текст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a:t>Образец текста</a:t>
            </a:r>
          </a:p>
        </p:txBody>
      </p:sp>
      <p:sp>
        <p:nvSpPr>
          <p:cNvPr id="4" name="Текст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a:t>Образец текста</a:t>
            </a:r>
          </a:p>
        </p:txBody>
      </p:sp>
      <p:sp>
        <p:nvSpPr>
          <p:cNvPr id="5" name="Объект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6" name="Объект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7" name="Дата 6"/>
          <p:cNvSpPr>
            <a:spLocks noGrp="1"/>
          </p:cNvSpPr>
          <p:nvPr>
            <p:ph type="dt" sz="half" idx="10"/>
          </p:nvPr>
        </p:nvSpPr>
        <p:spPr>
          <a:xfrm>
            <a:off x="4791456" y="6480969"/>
            <a:ext cx="2130552" cy="301752"/>
          </a:xfrm>
        </p:spPr>
        <p:txBody>
          <a:bodyPr/>
          <a:lstStyle/>
          <a:p>
            <a:fld id="{B4C71EC6-210F-42DE-9C53-41977AD35B3D}" type="datetimeFigureOut">
              <a:rPr lang="ru-RU" smtClean="0"/>
              <a:t>18.12.2025</a:t>
            </a:fld>
            <a:endParaRPr lang="ru-RU"/>
          </a:p>
        </p:txBody>
      </p:sp>
      <p:sp>
        <p:nvSpPr>
          <p:cNvPr id="8" name="Нижний колонтитул 7"/>
          <p:cNvSpPr>
            <a:spLocks noGrp="1"/>
          </p:cNvSpPr>
          <p:nvPr>
            <p:ph type="ftr" sz="quarter" idx="11"/>
          </p:nvPr>
        </p:nvSpPr>
        <p:spPr>
          <a:xfrm>
            <a:off x="457200" y="6480969"/>
            <a:ext cx="4261104" cy="301752"/>
          </a:xfrm>
        </p:spPr>
        <p:txBody>
          <a:bodyPr/>
          <a:lstStyle/>
          <a:p>
            <a:endParaRPr lang="ru-RU"/>
          </a:p>
        </p:txBody>
      </p:sp>
      <p:sp>
        <p:nvSpPr>
          <p:cNvPr id="9" name="Номер слайда 8"/>
          <p:cNvSpPr>
            <a:spLocks noGrp="1"/>
          </p:cNvSpPr>
          <p:nvPr>
            <p:ph type="sldNum" sz="quarter" idx="12"/>
          </p:nvPr>
        </p:nvSpPr>
        <p:spPr>
          <a:xfrm>
            <a:off x="7589520" y="6483096"/>
            <a:ext cx="502920" cy="301752"/>
          </a:xfrm>
        </p:spPr>
        <p:txBody>
          <a:bodyPr/>
          <a:lstStyle>
            <a:lvl1pPr algn="ctr">
              <a:defRPr/>
            </a:lvl1pPr>
          </a:lstStyle>
          <a:p>
            <a:fld id="{B19B0651-EE4F-4900-A07F-96A6BFA9D0F0}"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b="0"/>
            </a:lvl1pPr>
          </a:lstStyle>
          <a:p>
            <a:r>
              <a:rPr kumimoji="0" lang="ru-RU"/>
              <a:t>Образец заголовка</a:t>
            </a:r>
            <a:endParaRPr kumimoji="0" lang="en-US"/>
          </a:p>
        </p:txBody>
      </p:sp>
      <p:sp>
        <p:nvSpPr>
          <p:cNvPr id="3" name="Дата 2"/>
          <p:cNvSpPr>
            <a:spLocks noGrp="1"/>
          </p:cNvSpPr>
          <p:nvPr>
            <p:ph type="dt" sz="half" idx="10"/>
          </p:nvPr>
        </p:nvSpPr>
        <p:spPr/>
        <p:txBody>
          <a:bodyPr/>
          <a:lstStyle/>
          <a:p>
            <a:fld id="{B4C71EC6-210F-42DE-9C53-41977AD35B3D}" type="datetimeFigureOut">
              <a:rPr lang="ru-RU" smtClean="0"/>
              <a:t>18.12.2025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a:xfrm>
            <a:off x="4791456" y="6480969"/>
            <a:ext cx="2133600" cy="301752"/>
          </a:xfrm>
        </p:spPr>
        <p:txBody>
          <a:bodyPr/>
          <a:lstStyle/>
          <a:p>
            <a:fld id="{B4C71EC6-210F-42DE-9C53-41977AD35B3D}" type="datetimeFigureOut">
              <a:rPr lang="ru-RU" smtClean="0"/>
              <a:t>18.12.2025</a:t>
            </a:fld>
            <a:endParaRPr lang="ru-RU"/>
          </a:p>
        </p:txBody>
      </p:sp>
      <p:sp>
        <p:nvSpPr>
          <p:cNvPr id="3" name="Нижний колонтитул 2"/>
          <p:cNvSpPr>
            <a:spLocks noGrp="1"/>
          </p:cNvSpPr>
          <p:nvPr>
            <p:ph type="ftr" sz="quarter" idx="11"/>
          </p:nvPr>
        </p:nvSpPr>
        <p:spPr>
          <a:xfrm>
            <a:off x="457200" y="6481890"/>
            <a:ext cx="4260056" cy="300831"/>
          </a:xfrm>
        </p:spPr>
        <p:txBody>
          <a:bodyPr/>
          <a:lstStyle/>
          <a:p>
            <a:endParaRPr lang="ru-RU"/>
          </a:p>
        </p:txBody>
      </p:sp>
      <p:sp>
        <p:nvSpPr>
          <p:cNvPr id="4" name="Номер слайда 3"/>
          <p:cNvSpPr>
            <a:spLocks noGrp="1"/>
          </p:cNvSpPr>
          <p:nvPr>
            <p:ph type="sldNum" sz="quarter" idx="12"/>
          </p:nvPr>
        </p:nvSpPr>
        <p:spPr>
          <a:xfrm>
            <a:off x="7589520" y="6480969"/>
            <a:ext cx="502920" cy="301752"/>
          </a:xfrm>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bg>
      <p:bgRef idx="1002">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ru-RU"/>
              <a:t>Образец заголовка</a:t>
            </a:r>
            <a:endParaRPr kumimoji="0" lang="en-US"/>
          </a:p>
        </p:txBody>
      </p:sp>
      <p:sp>
        <p:nvSpPr>
          <p:cNvPr id="3" name="Текст 2"/>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ru-RU"/>
              <a:t>Образец текста</a:t>
            </a:r>
          </a:p>
        </p:txBody>
      </p:sp>
      <p:sp>
        <p:nvSpPr>
          <p:cNvPr id="4" name="Объект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a:xfrm>
            <a:off x="6278976" y="6556248"/>
            <a:ext cx="2133600" cy="301752"/>
          </a:xfrm>
        </p:spPr>
        <p:txBody>
          <a:bodyPr/>
          <a:lstStyle>
            <a:lvl1pPr>
              <a:defRPr sz="900"/>
            </a:lvl1pPr>
          </a:lstStyle>
          <a:p>
            <a:fld id="{B4C71EC6-210F-42DE-9C53-41977AD35B3D}" type="datetimeFigureOut">
              <a:rPr lang="ru-RU" smtClean="0"/>
              <a:t>18.12.2025</a:t>
            </a:fld>
            <a:endParaRPr lang="ru-RU"/>
          </a:p>
        </p:txBody>
      </p:sp>
      <p:sp>
        <p:nvSpPr>
          <p:cNvPr id="6" name="Нижний колонтитул 5"/>
          <p:cNvSpPr>
            <a:spLocks noGrp="1"/>
          </p:cNvSpPr>
          <p:nvPr>
            <p:ph type="ftr" sz="quarter" idx="11"/>
          </p:nvPr>
        </p:nvSpPr>
        <p:spPr>
          <a:xfrm>
            <a:off x="1135856" y="6556248"/>
            <a:ext cx="5143120" cy="301752"/>
          </a:xfrm>
        </p:spPr>
        <p:txBody>
          <a:bodyPr/>
          <a:lstStyle>
            <a:lvl1pPr>
              <a:defRPr sz="900"/>
            </a:lvl1pPr>
          </a:lstStyle>
          <a:p>
            <a:endParaRPr lang="ru-RU"/>
          </a:p>
        </p:txBody>
      </p:sp>
      <p:sp>
        <p:nvSpPr>
          <p:cNvPr id="7" name="Номер слайда 6"/>
          <p:cNvSpPr>
            <a:spLocks noGrp="1"/>
          </p:cNvSpPr>
          <p:nvPr>
            <p:ph type="sldNum" sz="quarter" idx="12"/>
          </p:nvPr>
        </p:nvSpPr>
        <p:spPr>
          <a:xfrm>
            <a:off x="8410576" y="6556248"/>
            <a:ext cx="502920" cy="301752"/>
          </a:xfrm>
        </p:spPr>
        <p:txBody>
          <a:bodyPr/>
          <a:lstStyle>
            <a:lvl1pPr>
              <a:defRPr sz="900"/>
            </a:lvl1pPr>
          </a:lstStyle>
          <a:p>
            <a:fld id="{B19B0651-EE4F-4900-A07F-96A6BFA9D0F0}"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bg>
      <p:bgRef idx="1002">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ru-RU"/>
              <a:t>Образец заголовка</a:t>
            </a:r>
            <a:endParaRPr kumimoji="0" lang="en-US"/>
          </a:p>
        </p:txBody>
      </p:sp>
      <p:sp>
        <p:nvSpPr>
          <p:cNvPr id="3" name="Рисунок 2"/>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ru-RU"/>
              <a:t>Вставка рисунка</a:t>
            </a:r>
            <a:endParaRPr kumimoji="0" lang="en-US" dirty="0"/>
          </a:p>
        </p:txBody>
      </p:sp>
      <p:sp>
        <p:nvSpPr>
          <p:cNvPr id="4" name="Текст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ru-RU"/>
              <a:t>Образец текста</a:t>
            </a:r>
          </a:p>
        </p:txBody>
      </p:sp>
      <p:sp>
        <p:nvSpPr>
          <p:cNvPr id="5" name="Дата 4"/>
          <p:cNvSpPr>
            <a:spLocks noGrp="1"/>
          </p:cNvSpPr>
          <p:nvPr>
            <p:ph type="dt" sz="half" idx="10"/>
          </p:nvPr>
        </p:nvSpPr>
        <p:spPr>
          <a:xfrm>
            <a:off x="6108192" y="6556248"/>
            <a:ext cx="2103120" cy="301752"/>
          </a:xfrm>
        </p:spPr>
        <p:txBody>
          <a:bodyPr/>
          <a:lstStyle>
            <a:lvl1pPr>
              <a:defRPr sz="900"/>
            </a:lvl1pPr>
          </a:lstStyle>
          <a:p>
            <a:fld id="{B4C71EC6-210F-42DE-9C53-41977AD35B3D}" type="datetimeFigureOut">
              <a:rPr lang="ru-RU" smtClean="0"/>
              <a:t>18.12.2025</a:t>
            </a:fld>
            <a:endParaRPr lang="ru-RU"/>
          </a:p>
        </p:txBody>
      </p:sp>
      <p:sp>
        <p:nvSpPr>
          <p:cNvPr id="6" name="Нижний колонтитул 5"/>
          <p:cNvSpPr>
            <a:spLocks noGrp="1"/>
          </p:cNvSpPr>
          <p:nvPr>
            <p:ph type="ftr" sz="quarter" idx="11"/>
          </p:nvPr>
        </p:nvSpPr>
        <p:spPr>
          <a:xfrm>
            <a:off x="1170432" y="6557169"/>
            <a:ext cx="4948072" cy="301752"/>
          </a:xfrm>
        </p:spPr>
        <p:txBody>
          <a:bodyPr/>
          <a:lstStyle>
            <a:lvl1pPr>
              <a:defRPr sz="900"/>
            </a:lvl1pPr>
          </a:lstStyle>
          <a:p>
            <a:endParaRPr lang="ru-RU"/>
          </a:p>
        </p:txBody>
      </p:sp>
      <p:sp>
        <p:nvSpPr>
          <p:cNvPr id="7" name="Номер слайда 6"/>
          <p:cNvSpPr>
            <a:spLocks noGrp="1"/>
          </p:cNvSpPr>
          <p:nvPr>
            <p:ph type="sldNum" sz="quarter" idx="12"/>
          </p:nvPr>
        </p:nvSpPr>
        <p:spPr>
          <a:xfrm>
            <a:off x="8217192" y="6556248"/>
            <a:ext cx="365760" cy="301752"/>
          </a:xfrm>
        </p:spPr>
        <p:txBody>
          <a:bodyPr/>
          <a:lstStyle>
            <a:lvl1pPr algn="ctr">
              <a:defRPr sz="900"/>
            </a:lvl1pPr>
          </a:lstStyle>
          <a:p>
            <a:fld id="{B19B0651-EE4F-4900-A07F-96A6BFA9D0F0}"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B4C71EC6-210F-42DE-9C53-41977AD35B3D}" type="datetimeFigureOut">
              <a:rPr lang="ru-RU" smtClean="0"/>
              <a:t>18.12.2025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781800" y="381000"/>
            <a:ext cx="1905000" cy="5486400"/>
          </a:xfrm>
        </p:spPr>
        <p:txBody>
          <a:bodyPr vert="eaVert"/>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a:xfrm>
            <a:off x="457200" y="381000"/>
            <a:ext cx="6248400" cy="5486400"/>
          </a:xfrm>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B4C71EC6-210F-42DE-9C53-41977AD35B3D}" type="datetimeFigureOut">
              <a:rPr lang="ru-RU" smtClean="0"/>
              <a:t>18.12.2025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Прямоугольный треугольник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Прямая соединительная линия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Прямая соединительная линия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Заголовок 21"/>
          <p:cNvSpPr>
            <a:spLocks noGrp="1"/>
          </p:cNvSpPr>
          <p:nvPr>
            <p:ph type="title"/>
          </p:nvPr>
        </p:nvSpPr>
        <p:spPr>
          <a:xfrm>
            <a:off x="457200" y="267494"/>
            <a:ext cx="8229600" cy="1399032"/>
          </a:xfrm>
          <a:prstGeom prst="rect">
            <a:avLst/>
          </a:prstGeom>
        </p:spPr>
        <p:txBody>
          <a:bodyPr vert="horz" anchor="ctr">
            <a:normAutofit/>
          </a:bodyPr>
          <a:lstStyle/>
          <a:p>
            <a:r>
              <a:rPr kumimoji="0" lang="ru-RU"/>
              <a:t>Образец заголовка</a:t>
            </a:r>
            <a:endParaRPr kumimoji="0" lang="en-US"/>
          </a:p>
        </p:txBody>
      </p:sp>
      <p:sp>
        <p:nvSpPr>
          <p:cNvPr id="13" name="Текст 12"/>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ru-RU"/>
              <a:t>Образец текста</a:t>
            </a:r>
          </a:p>
          <a:p>
            <a:pPr lvl="1" eaLnBrk="1" latinLnBrk="0" hangingPunct="1"/>
            <a:r>
              <a:rPr kumimoji="0" lang="ru-RU"/>
              <a:t>Второй уровень</a:t>
            </a:r>
          </a:p>
          <a:p>
            <a:pPr lvl="2" eaLnBrk="1" latinLnBrk="0" hangingPunct="1"/>
            <a:r>
              <a:rPr kumimoji="0" lang="ru-RU"/>
              <a:t>Третий уровень</a:t>
            </a:r>
          </a:p>
          <a:p>
            <a:pPr lvl="3" eaLnBrk="1" latinLnBrk="0" hangingPunct="1"/>
            <a:r>
              <a:rPr kumimoji="0" lang="ru-RU"/>
              <a:t>Четвертый уровень</a:t>
            </a:r>
          </a:p>
          <a:p>
            <a:pPr lvl="4" eaLnBrk="1" latinLnBrk="0" hangingPunct="1"/>
            <a:r>
              <a:rPr kumimoji="0" lang="ru-RU"/>
              <a:t>Пятый уровень</a:t>
            </a:r>
            <a:endParaRPr kumimoji="0" lang="en-US"/>
          </a:p>
        </p:txBody>
      </p:sp>
      <p:sp>
        <p:nvSpPr>
          <p:cNvPr id="14" name="Дата 13"/>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B4C71EC6-210F-42DE-9C53-41977AD35B3D}" type="datetimeFigureOut">
              <a:rPr lang="ru-RU" smtClean="0"/>
              <a:t>18.12.2025</a:t>
            </a:fld>
            <a:endParaRPr lang="ru-RU"/>
          </a:p>
        </p:txBody>
      </p:sp>
      <p:sp>
        <p:nvSpPr>
          <p:cNvPr id="3" name="Нижний колонтитул 2"/>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ru-RU"/>
          </a:p>
        </p:txBody>
      </p:sp>
      <p:sp>
        <p:nvSpPr>
          <p:cNvPr id="23" name="Номер слайда 22"/>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B19B0651-EE4F-4900-A07F-96A6BFA9D0F0}" type="slidenum">
              <a:rPr lang="ru-RU" smtClean="0"/>
              <a:t>‹#›</a:t>
            </a:fld>
            <a:endParaRPr lang="ru-RU"/>
          </a:p>
        </p:txBody>
      </p:sp>
    </p:spTree>
  </p:cSld>
  <p:clrMap bg1="dk1" tx1="lt1" bg2="dk2" tx2="lt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36912"/>
            <a:ext cx="8229600" cy="1399032"/>
          </a:xfrm>
        </p:spPr>
        <p:txBody>
          <a:bodyPr>
            <a:noAutofit/>
          </a:bodyPr>
          <a:lstStyle/>
          <a:p>
            <a:r>
              <a:rPr lang="en-US" sz="4800" b="1" dirty="0">
                <a:solidFill>
                  <a:schemeClr val="accent1">
                    <a:lumMod val="60000"/>
                    <a:lumOff val="40000"/>
                  </a:schemeClr>
                </a:solidFill>
                <a:latin typeface="Calibri"/>
              </a:rPr>
              <a:t>KINODROCH – </a:t>
            </a:r>
            <a:br>
              <a:rPr lang="en-US" sz="4800" b="1" dirty="0">
                <a:solidFill>
                  <a:schemeClr val="accent1">
                    <a:lumMod val="60000"/>
                    <a:lumOff val="40000"/>
                  </a:schemeClr>
                </a:solidFill>
                <a:latin typeface="Calibri"/>
              </a:rPr>
            </a:br>
            <a:r>
              <a:rPr lang="en-US" sz="4800" b="1" dirty="0">
                <a:solidFill>
                  <a:schemeClr val="accent1">
                    <a:lumMod val="60000"/>
                    <a:lumOff val="40000"/>
                  </a:schemeClr>
                </a:solidFill>
                <a:latin typeface="Calibri"/>
              </a:rPr>
              <a:t>Movie and TV Series Application</a:t>
            </a:r>
            <a:endParaRPr lang="ru-RU" sz="4800" b="1" dirty="0">
              <a:solidFill>
                <a:schemeClr val="accent1">
                  <a:lumMod val="60000"/>
                  <a:lumOff val="40000"/>
                </a:schemeClr>
              </a:solidFill>
              <a:latin typeface="Calibri"/>
            </a:endParaRPr>
          </a:p>
        </p:txBody>
      </p:sp>
      <p:sp>
        <p:nvSpPr>
          <p:cNvPr id="3" name="Текст 2"/>
          <p:cNvSpPr>
            <a:spLocks noGrp="1"/>
          </p:cNvSpPr>
          <p:nvPr>
            <p:ph idx="1"/>
          </p:nvPr>
        </p:nvSpPr>
        <p:spPr>
          <a:xfrm>
            <a:off x="4355976" y="5157192"/>
            <a:ext cx="4330824" cy="1297616"/>
          </a:xfrm>
        </p:spPr>
        <p:txBody>
          <a:bodyPr>
            <a:normAutofit fontScale="92500" lnSpcReduction="20000"/>
          </a:bodyPr>
          <a:lstStyle/>
          <a:p>
            <a:pPr marL="64008" indent="0" algn="just">
              <a:buNone/>
            </a:pPr>
            <a:r>
              <a:rPr lang="en-US" sz="2000" dirty="0">
                <a:solidFill>
                  <a:schemeClr val="tx1">
                    <a:lumMod val="95000"/>
                  </a:schemeClr>
                </a:solidFill>
                <a:latin typeface="Calibri"/>
              </a:rPr>
              <a:t>Web Programming Application Project</a:t>
            </a:r>
          </a:p>
          <a:p>
            <a:pPr marL="64008" indent="0" algn="just">
              <a:buNone/>
            </a:pPr>
            <a:r>
              <a:rPr lang="en-US" sz="2000" dirty="0">
                <a:solidFill>
                  <a:schemeClr val="tx1">
                    <a:lumMod val="95000"/>
                  </a:schemeClr>
                </a:solidFill>
                <a:latin typeface="Calibri"/>
              </a:rPr>
              <a:t>Autumn 2025</a:t>
            </a:r>
          </a:p>
          <a:p>
            <a:pPr marL="64008" indent="0" algn="just">
              <a:buNone/>
            </a:pPr>
            <a:r>
              <a:rPr lang="en-US" sz="2000" dirty="0">
                <a:solidFill>
                  <a:schemeClr val="tx1">
                    <a:lumMod val="95000"/>
                  </a:schemeClr>
                </a:solidFill>
                <a:latin typeface="Calibri"/>
              </a:rPr>
              <a:t>Oulu University of Applied Sciences</a:t>
            </a:r>
          </a:p>
          <a:p>
            <a:pPr marL="64008" indent="0" algn="just">
              <a:buNone/>
            </a:pPr>
            <a:r>
              <a:rPr lang="en-US" sz="2000" dirty="0">
                <a:solidFill>
                  <a:schemeClr val="tx1">
                    <a:lumMod val="95000"/>
                  </a:schemeClr>
                </a:solidFill>
                <a:latin typeface="Calibri"/>
              </a:rPr>
              <a:t>[Andrei </a:t>
            </a:r>
            <a:r>
              <a:rPr lang="en-US" sz="2000" dirty="0" err="1">
                <a:solidFill>
                  <a:schemeClr val="tx1">
                    <a:lumMod val="95000"/>
                  </a:schemeClr>
                </a:solidFill>
                <a:latin typeface="Calibri"/>
              </a:rPr>
              <a:t>Bobrenko</a:t>
            </a:r>
            <a:r>
              <a:rPr lang="en-US" sz="2000" dirty="0">
                <a:solidFill>
                  <a:schemeClr val="tx1">
                    <a:lumMod val="95000"/>
                  </a:schemeClr>
                </a:solidFill>
                <a:latin typeface="Calibri"/>
              </a:rPr>
              <a:t>, Kirill Cheremisin]</a:t>
            </a:r>
            <a:endParaRPr lang="ru-RU" sz="2000" dirty="0">
              <a:solidFill>
                <a:schemeClr val="tx1">
                  <a:lumMod val="95000"/>
                </a:schemeClr>
              </a:solidFill>
              <a:latin typeface="Calibri"/>
            </a:endParaRPr>
          </a:p>
        </p:txBody>
      </p:sp>
    </p:spTree>
    <p:extLst>
      <p:ext uri="{BB962C8B-B14F-4D97-AF65-F5344CB8AC3E}">
        <p14:creationId xmlns:p14="http://schemas.microsoft.com/office/powerpoint/2010/main" val="3132492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Project Goal</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1484784"/>
            <a:ext cx="8229600" cy="5114040"/>
          </a:xfrm>
          <a:ln/>
        </p:spPr>
        <p:style>
          <a:lnRef idx="2">
            <a:schemeClr val="accent1"/>
          </a:lnRef>
          <a:fillRef idx="1">
            <a:schemeClr val="lt1"/>
          </a:fillRef>
          <a:effectRef idx="0">
            <a:schemeClr val="accent1"/>
          </a:effectRef>
          <a:fontRef idx="minor">
            <a:schemeClr val="dk1"/>
          </a:fontRef>
        </p:style>
        <p:txBody>
          <a:bodyPr>
            <a:noAutofit/>
          </a:bodyPr>
          <a:lstStyle/>
          <a:p>
            <a:pPr>
              <a:buFont typeface="+mj-lt"/>
              <a:buAutoNum type="arabicPeriod"/>
            </a:pPr>
            <a:r>
              <a:rPr lang="en-US" sz="1150" b="1" dirty="0">
                <a:latin typeface="Calibri" pitchFamily="34" charset="0"/>
                <a:cs typeface="Calibri" pitchFamily="34" charset="0"/>
              </a:rPr>
              <a:t>Responsiveness</a:t>
            </a:r>
            <a:r>
              <a:rPr lang="en-US" sz="1150" dirty="0">
                <a:latin typeface="Calibri" pitchFamily="34" charset="0"/>
                <a:cs typeface="Calibri" pitchFamily="34" charset="0"/>
              </a:rPr>
              <a:t> - 2 points The user interface scales sensibly when the window size is changed on different screen sizes.</a:t>
            </a:r>
          </a:p>
          <a:p>
            <a:pPr>
              <a:buFont typeface="+mj-lt"/>
              <a:buAutoNum type="arabicPeriod"/>
            </a:pPr>
            <a:r>
              <a:rPr lang="en-US" sz="1150" b="1" dirty="0">
                <a:latin typeface="Calibri" pitchFamily="34" charset="0"/>
                <a:cs typeface="Calibri" pitchFamily="34" charset="0"/>
              </a:rPr>
              <a:t>Registration</a:t>
            </a:r>
            <a:r>
              <a:rPr lang="en-US" sz="1150" dirty="0">
                <a:latin typeface="Calibri" pitchFamily="34" charset="0"/>
                <a:cs typeface="Calibri" pitchFamily="34" charset="0"/>
              </a:rPr>
              <a:t> - 1 point The user can register on the site. The user account includes a username (email) and a password with a minimum length of 8 characters, containing at least one uppercase letter and one number.</a:t>
            </a:r>
          </a:p>
          <a:p>
            <a:pPr>
              <a:buFont typeface="+mj-lt"/>
              <a:buAutoNum type="arabicPeriod"/>
            </a:pPr>
            <a:r>
              <a:rPr lang="en-US" sz="1150" b="1" dirty="0">
                <a:latin typeface="Calibri" pitchFamily="34" charset="0"/>
                <a:cs typeface="Calibri" pitchFamily="34" charset="0"/>
              </a:rPr>
              <a:t>Login</a:t>
            </a:r>
            <a:r>
              <a:rPr lang="en-US" sz="1150" dirty="0">
                <a:latin typeface="Calibri" pitchFamily="34" charset="0"/>
                <a:cs typeface="Calibri" pitchFamily="34" charset="0"/>
              </a:rPr>
              <a:t> - 1 point The user can log in to the site with the credentials they created. The user can also log out.</a:t>
            </a:r>
          </a:p>
          <a:p>
            <a:pPr>
              <a:buFont typeface="+mj-lt"/>
              <a:buAutoNum type="arabicPeriod"/>
            </a:pPr>
            <a:r>
              <a:rPr lang="en-US" sz="1150" b="1" dirty="0">
                <a:latin typeface="Calibri" pitchFamily="34" charset="0"/>
                <a:cs typeface="Calibri" pitchFamily="34" charset="0"/>
              </a:rPr>
              <a:t>Account deletion</a:t>
            </a:r>
            <a:r>
              <a:rPr lang="en-US" sz="1150" dirty="0">
                <a:latin typeface="Calibri" pitchFamily="34" charset="0"/>
                <a:cs typeface="Calibri" pitchFamily="34" charset="0"/>
              </a:rPr>
              <a:t> – 1 point The user can delete their account. This also deletes the user’s created data (features 11, 13, and 14).</a:t>
            </a:r>
          </a:p>
          <a:p>
            <a:pPr>
              <a:buFont typeface="+mj-lt"/>
              <a:buAutoNum type="arabicPeriod"/>
            </a:pPr>
            <a:r>
              <a:rPr lang="en-US" sz="1150" b="1" dirty="0">
                <a:latin typeface="Calibri" pitchFamily="34" charset="0"/>
                <a:cs typeface="Calibri" pitchFamily="34" charset="0"/>
              </a:rPr>
              <a:t>Search</a:t>
            </a:r>
            <a:r>
              <a:rPr lang="en-US" sz="1150" dirty="0">
                <a:latin typeface="Calibri" pitchFamily="34" charset="0"/>
                <a:cs typeface="Calibri" pitchFamily="34" charset="0"/>
              </a:rPr>
              <a:t> - 2 points The site allows searching for movies and TV series using different search criteria (at least 3 different search methods/criteria). This feature does not require login.</a:t>
            </a:r>
          </a:p>
          <a:p>
            <a:pPr>
              <a:buFont typeface="+mj-lt"/>
              <a:buAutoNum type="arabicPeriod"/>
            </a:pPr>
            <a:r>
              <a:rPr lang="en-US" sz="1150" b="1" dirty="0">
                <a:latin typeface="Calibri" pitchFamily="34" charset="0"/>
                <a:cs typeface="Calibri" pitchFamily="34" charset="0"/>
              </a:rPr>
              <a:t>Now in cinemas</a:t>
            </a:r>
            <a:r>
              <a:rPr lang="en-US" sz="1150" dirty="0">
                <a:latin typeface="Calibri" pitchFamily="34" charset="0"/>
                <a:cs typeface="Calibri" pitchFamily="34" charset="0"/>
              </a:rPr>
              <a:t> - 1 point The site shows movies currently playing in cinemas in Finland. This feature does not require login.</a:t>
            </a:r>
          </a:p>
          <a:p>
            <a:pPr>
              <a:buFont typeface="+mj-lt"/>
              <a:buAutoNum type="arabicPeriod"/>
            </a:pPr>
            <a:r>
              <a:rPr lang="en-US" sz="1150" b="1" dirty="0">
                <a:latin typeface="Calibri" pitchFamily="34" charset="0"/>
                <a:cs typeface="Calibri" pitchFamily="34" charset="0"/>
              </a:rPr>
              <a:t>Group page</a:t>
            </a:r>
            <a:r>
              <a:rPr lang="en-US" sz="1150" dirty="0">
                <a:latin typeface="Calibri" pitchFamily="34" charset="0"/>
                <a:cs typeface="Calibri" pitchFamily="34" charset="0"/>
              </a:rPr>
              <a:t> - 2 points The user can create a new group with a desired name. Created groups are displayed in a list from which one can navigate to an individual group page. The group list is visible to all users, but only group members can view the detailed content of the group page. The group can be deleted by its creator (owner).</a:t>
            </a:r>
          </a:p>
          <a:p>
            <a:pPr>
              <a:buFont typeface="+mj-lt"/>
              <a:buAutoNum type="arabicPeriod"/>
            </a:pPr>
            <a:r>
              <a:rPr lang="en-US" sz="1150" b="1" dirty="0">
                <a:latin typeface="Calibri" pitchFamily="34" charset="0"/>
                <a:cs typeface="Calibri" pitchFamily="34" charset="0"/>
              </a:rPr>
              <a:t>Adding a member</a:t>
            </a:r>
            <a:r>
              <a:rPr lang="en-US" sz="1150" dirty="0">
                <a:latin typeface="Calibri" pitchFamily="34" charset="0"/>
                <a:cs typeface="Calibri" pitchFamily="34" charset="0"/>
              </a:rPr>
              <a:t> - 1 point The user can send a join request to a group. The owner can accept or reject the request.</a:t>
            </a:r>
          </a:p>
          <a:p>
            <a:pPr>
              <a:buFont typeface="+mj-lt"/>
              <a:buAutoNum type="arabicPeriod"/>
            </a:pPr>
            <a:r>
              <a:rPr lang="en-US" sz="1150" b="1" dirty="0">
                <a:latin typeface="Calibri" pitchFamily="34" charset="0"/>
                <a:cs typeface="Calibri" pitchFamily="34" charset="0"/>
              </a:rPr>
              <a:t>Removing a member</a:t>
            </a:r>
            <a:r>
              <a:rPr lang="en-US" sz="1150" dirty="0">
                <a:latin typeface="Calibri" pitchFamily="34" charset="0"/>
                <a:cs typeface="Calibri" pitchFamily="34" charset="0"/>
              </a:rPr>
              <a:t> - 1 point The group owner can remove a member, or a member can leave the group themselves.</a:t>
            </a:r>
          </a:p>
          <a:p>
            <a:pPr>
              <a:buFont typeface="+mj-lt"/>
              <a:buAutoNum type="arabicPeriod"/>
            </a:pPr>
            <a:r>
              <a:rPr lang="en-US" sz="1150" b="1" dirty="0">
                <a:latin typeface="Calibri" pitchFamily="34" charset="0"/>
                <a:cs typeface="Calibri" pitchFamily="34" charset="0"/>
              </a:rPr>
              <a:t>Group page customization</a:t>
            </a:r>
            <a:r>
              <a:rPr lang="en-US" sz="1150" dirty="0">
                <a:latin typeface="Calibri" pitchFamily="34" charset="0"/>
                <a:cs typeface="Calibri" pitchFamily="34" charset="0"/>
              </a:rPr>
              <a:t> - 2 points A group member can add a searched movie (feature 5) to the group page.</a:t>
            </a:r>
          </a:p>
          <a:p>
            <a:pPr>
              <a:buFont typeface="+mj-lt"/>
              <a:buAutoNum type="arabicPeriod"/>
            </a:pPr>
            <a:r>
              <a:rPr lang="en-US" sz="1150" b="1" dirty="0">
                <a:latin typeface="Calibri" pitchFamily="34" charset="0"/>
                <a:cs typeface="Calibri" pitchFamily="34" charset="0"/>
              </a:rPr>
              <a:t>Movie review</a:t>
            </a:r>
            <a:r>
              <a:rPr lang="en-US" sz="1150" dirty="0">
                <a:latin typeface="Calibri" pitchFamily="34" charset="0"/>
                <a:cs typeface="Calibri" pitchFamily="34" charset="0"/>
              </a:rPr>
              <a:t> - 1 point A logged-in user can add a movie review. The review includes text and stars (1-10). The review displays the username and the date/time it was given. The review is shown on the site together with the movie’s other information.</a:t>
            </a:r>
          </a:p>
          <a:p>
            <a:pPr>
              <a:buFont typeface="+mj-lt"/>
              <a:buAutoNum type="arabicPeriod"/>
            </a:pPr>
            <a:r>
              <a:rPr lang="en-US" sz="1150" b="1" dirty="0">
                <a:latin typeface="Calibri" pitchFamily="34" charset="0"/>
                <a:cs typeface="Calibri" pitchFamily="34" charset="0"/>
              </a:rPr>
              <a:t>Browsing reviews</a:t>
            </a:r>
            <a:r>
              <a:rPr lang="en-US" sz="1150" dirty="0">
                <a:latin typeface="Calibri" pitchFamily="34" charset="0"/>
                <a:cs typeface="Calibri" pitchFamily="34" charset="0"/>
              </a:rPr>
              <a:t> - 1 point Movie reviews are displayed to all users on the site.</a:t>
            </a:r>
          </a:p>
          <a:p>
            <a:pPr>
              <a:buFont typeface="+mj-lt"/>
              <a:buAutoNum type="arabicPeriod"/>
            </a:pPr>
            <a:r>
              <a:rPr lang="en-US" sz="1150" b="1" dirty="0">
                <a:latin typeface="Calibri" pitchFamily="34" charset="0"/>
                <a:cs typeface="Calibri" pitchFamily="34" charset="0"/>
              </a:rPr>
              <a:t>Favorites list</a:t>
            </a:r>
            <a:r>
              <a:rPr lang="en-US" sz="1150" dirty="0">
                <a:latin typeface="Calibri" pitchFamily="34" charset="0"/>
                <a:cs typeface="Calibri" pitchFamily="34" charset="0"/>
              </a:rPr>
              <a:t> - 1 point A logged-in user can create their own favorites list, which is displayed on the user’s profile page.</a:t>
            </a:r>
          </a:p>
          <a:p>
            <a:pPr>
              <a:buFont typeface="+mj-lt"/>
              <a:buAutoNum type="arabicPeriod"/>
            </a:pPr>
            <a:r>
              <a:rPr lang="en-US" sz="1150" b="1" dirty="0">
                <a:latin typeface="Calibri" pitchFamily="34" charset="0"/>
                <a:cs typeface="Calibri" pitchFamily="34" charset="0"/>
              </a:rPr>
              <a:t>Sharing the favorites list</a:t>
            </a:r>
            <a:r>
              <a:rPr lang="en-US" sz="1150" dirty="0">
                <a:latin typeface="Calibri" pitchFamily="34" charset="0"/>
                <a:cs typeface="Calibri" pitchFamily="34" charset="0"/>
              </a:rPr>
              <a:t> - 1 point A logged-in user can share their favorites list via a URL, which is visible to all users.</a:t>
            </a:r>
          </a:p>
          <a:p>
            <a:pPr>
              <a:buFont typeface="+mj-lt"/>
              <a:buAutoNum type="arabicPeriod"/>
            </a:pPr>
            <a:r>
              <a:rPr lang="en-US" sz="1150" b="1" dirty="0">
                <a:latin typeface="Calibri" pitchFamily="34" charset="0"/>
                <a:cs typeface="Calibri" pitchFamily="34" charset="0"/>
              </a:rPr>
              <a:t>Free-choice feature</a:t>
            </a:r>
            <a:r>
              <a:rPr lang="en-US" sz="1150" dirty="0">
                <a:latin typeface="Calibri" pitchFamily="34" charset="0"/>
                <a:cs typeface="Calibri" pitchFamily="34" charset="0"/>
              </a:rPr>
              <a:t> - 1 point Add a feature of your own invention to the site.</a:t>
            </a:r>
          </a:p>
          <a:p>
            <a:pPr>
              <a:buFont typeface="+mj-lt"/>
              <a:buAutoNum type="arabicPeriod"/>
            </a:pPr>
            <a:r>
              <a:rPr lang="en-US" sz="1150" b="1" dirty="0">
                <a:latin typeface="Calibri" pitchFamily="34" charset="0"/>
                <a:cs typeface="Calibri" pitchFamily="34" charset="0"/>
              </a:rPr>
              <a:t>Site publication</a:t>
            </a:r>
            <a:r>
              <a:rPr lang="en-US" sz="1150" dirty="0">
                <a:latin typeface="Calibri" pitchFamily="34" charset="0"/>
                <a:cs typeface="Calibri" pitchFamily="34" charset="0"/>
              </a:rPr>
              <a:t> - 1 point (The site is deployed/published online.)</a:t>
            </a:r>
          </a:p>
          <a:p>
            <a:pPr>
              <a:buFont typeface="+mj-lt"/>
              <a:buAutoNum type="arabicPeriod"/>
            </a:pPr>
            <a:endParaRPr lang="en-US" sz="1150" dirty="0">
              <a:latin typeface="Calibri" pitchFamily="34" charset="0"/>
              <a:cs typeface="Calibri" pitchFamily="34" charset="0"/>
            </a:endParaRPr>
          </a:p>
          <a:p>
            <a:pPr>
              <a:buFont typeface="+mj-lt"/>
              <a:buAutoNum type="arabicPeriod"/>
            </a:pPr>
            <a:r>
              <a:rPr lang="en-US" sz="1150" b="1" dirty="0">
                <a:latin typeface="Calibri" pitchFamily="34" charset="0"/>
                <a:cs typeface="Calibri" pitchFamily="34" charset="0"/>
              </a:rPr>
              <a:t>Total: 20 points</a:t>
            </a:r>
            <a:endParaRPr lang="en-US" sz="1150" dirty="0">
              <a:latin typeface="Calibri" pitchFamily="34" charset="0"/>
              <a:cs typeface="Calibri" pitchFamily="34" charset="0"/>
            </a:endParaRPr>
          </a:p>
        </p:txBody>
      </p:sp>
    </p:spTree>
    <p:extLst>
      <p:ext uri="{BB962C8B-B14F-4D97-AF65-F5344CB8AC3E}">
        <p14:creationId xmlns:p14="http://schemas.microsoft.com/office/powerpoint/2010/main" val="3050528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1. Responsiveness (2 points)</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2348880"/>
            <a:ext cx="8229600" cy="4105928"/>
          </a:xfrm>
        </p:spPr>
        <p:txBody>
          <a:bodyPr>
            <a:normAutofit/>
          </a:bodyPr>
          <a:lstStyle/>
          <a:p>
            <a:pPr marL="64008" indent="0" algn="ctr">
              <a:buNone/>
            </a:pPr>
            <a:r>
              <a:rPr lang="en-US" sz="2000" dirty="0">
                <a:solidFill>
                  <a:schemeClr val="tx1">
                    <a:lumMod val="95000"/>
                  </a:schemeClr>
                </a:solidFill>
                <a:latin typeface="Calibri"/>
              </a:rPr>
              <a:t>The application scales to all screen sizes.</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Bootstrap-based grid system.</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Tested on multiple resolutions.</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Pages adapt automatically.</a:t>
            </a:r>
            <a:endParaRPr lang="ru-RU" sz="2000" dirty="0">
              <a:solidFill>
                <a:schemeClr val="tx1">
                  <a:lumMod val="95000"/>
                </a:schemeClr>
              </a:solidFill>
              <a:latin typeface="Calibri"/>
            </a:endParaRPr>
          </a:p>
        </p:txBody>
      </p:sp>
    </p:spTree>
    <p:extLst>
      <p:ext uri="{BB962C8B-B14F-4D97-AF65-F5344CB8AC3E}">
        <p14:creationId xmlns:p14="http://schemas.microsoft.com/office/powerpoint/2010/main" val="3672849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2–4. User Account Management (2/3 points)</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2564904"/>
            <a:ext cx="8229600" cy="3889904"/>
          </a:xfrm>
        </p:spPr>
        <p:txBody>
          <a:bodyPr>
            <a:normAutofit/>
          </a:bodyPr>
          <a:lstStyle/>
          <a:p>
            <a:pPr marL="64008" indent="0" algn="ctr">
              <a:buNone/>
            </a:pPr>
            <a:r>
              <a:rPr lang="en-US" sz="2000" dirty="0">
                <a:solidFill>
                  <a:schemeClr val="tx1">
                    <a:lumMod val="95000"/>
                  </a:schemeClr>
                </a:solidFill>
                <a:latin typeface="Calibri"/>
              </a:rPr>
              <a:t>Registration with username and password.</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Login and logout functionality.</a:t>
            </a:r>
            <a:endParaRPr lang="ru-RU" sz="2000" dirty="0">
              <a:solidFill>
                <a:schemeClr val="tx1">
                  <a:lumMod val="95000"/>
                </a:schemeClr>
              </a:solidFill>
              <a:latin typeface="Calibri"/>
            </a:endParaRPr>
          </a:p>
          <a:p>
            <a:pPr marL="64008" indent="0" algn="ctr">
              <a:buNone/>
            </a:pPr>
            <a:endParaRPr lang="ru-RU" sz="2000" dirty="0">
              <a:solidFill>
                <a:schemeClr val="tx1">
                  <a:lumMod val="95000"/>
                </a:schemeClr>
              </a:solidFill>
              <a:latin typeface="Calibri"/>
            </a:endParaRPr>
          </a:p>
          <a:p>
            <a:pPr marL="64008" indent="0" algn="ctr">
              <a:buNone/>
            </a:pPr>
            <a:r>
              <a:rPr lang="en-US" sz="2000" dirty="0">
                <a:solidFill>
                  <a:srgbClr val="FFC000"/>
                </a:solidFill>
                <a:latin typeface="Calibri"/>
              </a:rPr>
              <a:t>Account deletion removes all user data.</a:t>
            </a:r>
          </a:p>
        </p:txBody>
      </p:sp>
    </p:spTree>
    <p:extLst>
      <p:ext uri="{BB962C8B-B14F-4D97-AF65-F5344CB8AC3E}">
        <p14:creationId xmlns:p14="http://schemas.microsoft.com/office/powerpoint/2010/main" val="3563323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5. Search (2 points)</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2348880"/>
            <a:ext cx="8229600" cy="4105928"/>
          </a:xfrm>
        </p:spPr>
        <p:txBody>
          <a:bodyPr>
            <a:normAutofit/>
          </a:bodyPr>
          <a:lstStyle/>
          <a:p>
            <a:pPr marL="64008" indent="0" algn="ctr">
              <a:buNone/>
            </a:pPr>
            <a:r>
              <a:rPr lang="en-US" sz="2000" dirty="0">
                <a:solidFill>
                  <a:schemeClr val="tx1">
                    <a:lumMod val="95000"/>
                  </a:schemeClr>
                </a:solidFill>
                <a:latin typeface="Calibri"/>
              </a:rPr>
              <a:t>Search by name.</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Category-based search.</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Advanced filters.</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Dynamic paginated results.</a:t>
            </a:r>
            <a:endParaRPr lang="ru-RU" sz="2000" dirty="0">
              <a:solidFill>
                <a:schemeClr val="tx1">
                  <a:lumMod val="95000"/>
                </a:schemeClr>
              </a:solidFill>
              <a:latin typeface="Calibri"/>
            </a:endParaRPr>
          </a:p>
        </p:txBody>
      </p:sp>
    </p:spTree>
    <p:extLst>
      <p:ext uri="{BB962C8B-B14F-4D97-AF65-F5344CB8AC3E}">
        <p14:creationId xmlns:p14="http://schemas.microsoft.com/office/powerpoint/2010/main" val="3259835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6. Now Playing in Theaters (1 point)</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2492896"/>
            <a:ext cx="8229600" cy="3961912"/>
          </a:xfrm>
        </p:spPr>
        <p:txBody>
          <a:bodyPr>
            <a:normAutofit/>
          </a:bodyPr>
          <a:lstStyle/>
          <a:p>
            <a:pPr marL="64008" indent="0" algn="ctr">
              <a:buNone/>
            </a:pPr>
            <a:r>
              <a:rPr lang="en-US" sz="2000" dirty="0">
                <a:solidFill>
                  <a:schemeClr val="tx1">
                    <a:lumMod val="95000"/>
                  </a:schemeClr>
                </a:solidFill>
                <a:latin typeface="Calibri"/>
              </a:rPr>
              <a:t>Movies currently playing in Finland/USA/Russia.</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TMDB </a:t>
            </a:r>
            <a:r>
              <a:rPr lang="en-US" sz="2000" dirty="0" err="1">
                <a:solidFill>
                  <a:schemeClr val="tx1">
                    <a:lumMod val="95000"/>
                  </a:schemeClr>
                </a:solidFill>
                <a:latin typeface="Calibri"/>
              </a:rPr>
              <a:t>now_playing</a:t>
            </a:r>
            <a:r>
              <a:rPr lang="en-US" sz="2000" dirty="0">
                <a:solidFill>
                  <a:schemeClr val="tx1">
                    <a:lumMod val="95000"/>
                  </a:schemeClr>
                </a:solidFill>
                <a:latin typeface="Calibri"/>
              </a:rPr>
              <a:t> endpoint.</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Poster, title, </a:t>
            </a:r>
            <a:r>
              <a:rPr lang="en-US" sz="2000" dirty="0" err="1">
                <a:solidFill>
                  <a:schemeClr val="tx1">
                    <a:lumMod val="95000"/>
                  </a:schemeClr>
                </a:solidFill>
                <a:latin typeface="Calibri"/>
              </a:rPr>
              <a:t>IMDb</a:t>
            </a:r>
            <a:r>
              <a:rPr lang="en-US" sz="2000" dirty="0">
                <a:solidFill>
                  <a:schemeClr val="tx1">
                    <a:lumMod val="95000"/>
                  </a:schemeClr>
                </a:solidFill>
                <a:latin typeface="Calibri"/>
              </a:rPr>
              <a:t> rating.</a:t>
            </a:r>
            <a:endParaRPr lang="ru-RU" sz="2000" dirty="0">
              <a:solidFill>
                <a:schemeClr val="tx1">
                  <a:lumMod val="95000"/>
                </a:schemeClr>
              </a:solidFill>
              <a:latin typeface="Calibri"/>
            </a:endParaRPr>
          </a:p>
        </p:txBody>
      </p:sp>
    </p:spTree>
    <p:extLst>
      <p:ext uri="{BB962C8B-B14F-4D97-AF65-F5344CB8AC3E}">
        <p14:creationId xmlns:p14="http://schemas.microsoft.com/office/powerpoint/2010/main" val="3728346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7–10. Groups (6 points)</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2348880"/>
            <a:ext cx="8229600" cy="4105928"/>
          </a:xfrm>
        </p:spPr>
        <p:txBody>
          <a:bodyPr>
            <a:normAutofit/>
          </a:bodyPr>
          <a:lstStyle/>
          <a:p>
            <a:pPr marL="64008" indent="0" algn="ctr">
              <a:buNone/>
            </a:pPr>
            <a:r>
              <a:rPr lang="en-US" sz="2000" dirty="0">
                <a:solidFill>
                  <a:schemeClr val="tx1">
                    <a:lumMod val="95000"/>
                  </a:schemeClr>
                </a:solidFill>
                <a:latin typeface="Calibri"/>
              </a:rPr>
              <a:t>Create and delete groups.</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Join requests approval.</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Add and delete members.</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Add and delete movies to groups.</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See who added each movie.</a:t>
            </a:r>
            <a:endParaRPr lang="ru-RU" sz="2000" dirty="0">
              <a:solidFill>
                <a:schemeClr val="tx1">
                  <a:lumMod val="95000"/>
                </a:schemeClr>
              </a:solidFill>
              <a:latin typeface="Calibri"/>
            </a:endParaRPr>
          </a:p>
        </p:txBody>
      </p:sp>
    </p:spTree>
    <p:extLst>
      <p:ext uri="{BB962C8B-B14F-4D97-AF65-F5344CB8AC3E}">
        <p14:creationId xmlns:p14="http://schemas.microsoft.com/office/powerpoint/2010/main" val="189133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11–12. Reviews (2 points)</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2636912"/>
            <a:ext cx="8229600" cy="3817896"/>
          </a:xfrm>
        </p:spPr>
        <p:txBody>
          <a:bodyPr>
            <a:normAutofit/>
          </a:bodyPr>
          <a:lstStyle/>
          <a:p>
            <a:pPr marL="64008" indent="0" algn="ctr">
              <a:buNone/>
            </a:pPr>
            <a:r>
              <a:rPr lang="en-US" sz="2000" dirty="0">
                <a:solidFill>
                  <a:schemeClr val="tx1">
                    <a:lumMod val="95000"/>
                  </a:schemeClr>
                </a:solidFill>
                <a:latin typeface="Calibri"/>
              </a:rPr>
              <a:t>Rate movies 1–10 stars.</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Comments and dates visible.</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Edit or delete own reviews.</a:t>
            </a:r>
            <a:endParaRPr lang="ru-RU" sz="2000" dirty="0">
              <a:solidFill>
                <a:schemeClr val="tx1">
                  <a:lumMod val="95000"/>
                </a:schemeClr>
              </a:solidFill>
              <a:latin typeface="Calibri"/>
            </a:endParaRPr>
          </a:p>
        </p:txBody>
      </p:sp>
    </p:spTree>
    <p:extLst>
      <p:ext uri="{BB962C8B-B14F-4D97-AF65-F5344CB8AC3E}">
        <p14:creationId xmlns:p14="http://schemas.microsoft.com/office/powerpoint/2010/main" val="1321692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fr-FR" sz="3200" b="1" dirty="0">
                <a:solidFill>
                  <a:schemeClr val="accent1">
                    <a:lumMod val="60000"/>
                    <a:lumOff val="40000"/>
                  </a:schemeClr>
                </a:solidFill>
                <a:latin typeface="Calibri"/>
              </a:rPr>
              <a:t>13–14. Favorites List (</a:t>
            </a:r>
            <a:r>
              <a:rPr lang="ru-RU" sz="3200" b="1" dirty="0">
                <a:solidFill>
                  <a:schemeClr val="accent1">
                    <a:lumMod val="60000"/>
                    <a:lumOff val="40000"/>
                  </a:schemeClr>
                </a:solidFill>
                <a:latin typeface="Calibri"/>
              </a:rPr>
              <a:t>1/</a:t>
            </a:r>
            <a:r>
              <a:rPr lang="fr-FR" sz="3200" b="1" dirty="0">
                <a:solidFill>
                  <a:schemeClr val="accent1">
                    <a:lumMod val="60000"/>
                    <a:lumOff val="40000"/>
                  </a:schemeClr>
                </a:solidFill>
                <a:latin typeface="Calibri"/>
              </a:rPr>
              <a:t>2 points)</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2492896"/>
            <a:ext cx="8229600" cy="3961912"/>
          </a:xfrm>
        </p:spPr>
        <p:txBody>
          <a:bodyPr>
            <a:normAutofit/>
          </a:bodyPr>
          <a:lstStyle/>
          <a:p>
            <a:pPr marL="64008" indent="0" algn="ctr">
              <a:buNone/>
            </a:pPr>
            <a:r>
              <a:rPr lang="en-US" sz="2000" dirty="0">
                <a:solidFill>
                  <a:schemeClr val="tx1">
                    <a:lumMod val="95000"/>
                  </a:schemeClr>
                </a:solidFill>
                <a:latin typeface="Calibri"/>
              </a:rPr>
              <a:t>Add movies and series to favorites.</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Visible on profile.</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rgbClr val="FFC000"/>
                </a:solidFill>
                <a:latin typeface="Calibri"/>
              </a:rPr>
              <a:t>Sharable public URL.</a:t>
            </a:r>
            <a:endParaRPr lang="ru-RU" sz="2000" dirty="0">
              <a:solidFill>
                <a:srgbClr val="FFC000"/>
              </a:solidFill>
              <a:latin typeface="Calibri"/>
            </a:endParaRPr>
          </a:p>
        </p:txBody>
      </p:sp>
    </p:spTree>
    <p:extLst>
      <p:ext uri="{BB962C8B-B14F-4D97-AF65-F5344CB8AC3E}">
        <p14:creationId xmlns:p14="http://schemas.microsoft.com/office/powerpoint/2010/main" val="2576347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15. Optional Feature (1 point)</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2420888"/>
            <a:ext cx="8229600" cy="4033920"/>
          </a:xfrm>
        </p:spPr>
        <p:txBody>
          <a:bodyPr>
            <a:normAutofit/>
          </a:bodyPr>
          <a:lstStyle/>
          <a:p>
            <a:pPr marL="64008" indent="0" algn="ctr">
              <a:buNone/>
            </a:pPr>
            <a:r>
              <a:rPr lang="en-US" sz="2000" dirty="0" err="1">
                <a:solidFill>
                  <a:schemeClr val="tx1">
                    <a:lumMod val="95000"/>
                  </a:schemeClr>
                </a:solidFill>
                <a:latin typeface="Calibri"/>
              </a:rPr>
              <a:t>IMDb</a:t>
            </a:r>
            <a:r>
              <a:rPr lang="en-US" sz="2000" dirty="0">
                <a:solidFill>
                  <a:schemeClr val="tx1">
                    <a:lumMod val="95000"/>
                  </a:schemeClr>
                </a:solidFill>
                <a:latin typeface="Calibri"/>
              </a:rPr>
              <a:t> rating enrichment.</a:t>
            </a:r>
            <a:endParaRPr lang="ru-RU" sz="2000" dirty="0">
              <a:solidFill>
                <a:schemeClr val="tx1">
                  <a:lumMod val="95000"/>
                </a:schemeClr>
              </a:solidFill>
              <a:latin typeface="Calibri"/>
            </a:endParaRP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3 languages.</a:t>
            </a:r>
          </a:p>
          <a:p>
            <a:pPr marL="64008" indent="0" algn="ctr">
              <a:buNone/>
            </a:pPr>
            <a:endParaRPr lang="en-US" sz="2000" dirty="0">
              <a:solidFill>
                <a:schemeClr val="tx1">
                  <a:lumMod val="95000"/>
                </a:schemeClr>
              </a:solidFill>
              <a:latin typeface="Calibri"/>
            </a:endParaRPr>
          </a:p>
          <a:p>
            <a:pPr marL="64008" indent="0" algn="ctr">
              <a:buNone/>
            </a:pPr>
            <a:r>
              <a:rPr lang="fi-FI" sz="2000" dirty="0">
                <a:solidFill>
                  <a:schemeClr val="tx1">
                    <a:lumMod val="95000"/>
                  </a:schemeClr>
                </a:solidFill>
                <a:latin typeface="Calibri"/>
              </a:rPr>
              <a:t>V</a:t>
            </a:r>
            <a:r>
              <a:rPr lang="en-US" sz="2000" dirty="0" err="1">
                <a:solidFill>
                  <a:schemeClr val="tx1">
                    <a:lumMod val="95000"/>
                  </a:schemeClr>
                </a:solidFill>
                <a:latin typeface="Calibri"/>
              </a:rPr>
              <a:t>ideo</a:t>
            </a:r>
            <a:r>
              <a:rPr lang="en-US" sz="2000" dirty="0">
                <a:solidFill>
                  <a:schemeClr val="tx1">
                    <a:lumMod val="95000"/>
                  </a:schemeClr>
                </a:solidFill>
                <a:latin typeface="Calibri"/>
              </a:rPr>
              <a:t> player with a title trailer.</a:t>
            </a:r>
            <a:endParaRPr lang="ru-RU" sz="2000" dirty="0">
              <a:solidFill>
                <a:schemeClr val="tx1">
                  <a:lumMod val="95000"/>
                </a:schemeClr>
              </a:solidFill>
              <a:latin typeface="Calibri"/>
            </a:endParaRPr>
          </a:p>
          <a:p>
            <a:pPr marL="64008" indent="0" algn="ctr">
              <a:buNone/>
            </a:pPr>
            <a:endParaRPr lang="ru-RU" sz="2000" dirty="0">
              <a:solidFill>
                <a:schemeClr val="tx1">
                  <a:lumMod val="95000"/>
                </a:schemeClr>
              </a:solidFill>
              <a:latin typeface="Calibri"/>
            </a:endParaRPr>
          </a:p>
          <a:p>
            <a:pPr marL="64008" indent="0" algn="ctr">
              <a:buNone/>
            </a:pPr>
            <a:r>
              <a:rPr lang="fi-FI" sz="2000" dirty="0">
                <a:solidFill>
                  <a:schemeClr val="tx1">
                    <a:lumMod val="95000"/>
                  </a:schemeClr>
                </a:solidFill>
                <a:latin typeface="Calibri"/>
              </a:rPr>
              <a:t>Cloudflare DDOS</a:t>
            </a:r>
            <a:r>
              <a:rPr lang="en-US" sz="2000" dirty="0">
                <a:solidFill>
                  <a:schemeClr val="tx1">
                    <a:lumMod val="95000"/>
                  </a:schemeClr>
                </a:solidFill>
                <a:latin typeface="Calibri"/>
              </a:rPr>
              <a:t>-</a:t>
            </a:r>
            <a:r>
              <a:rPr lang="fi-FI" sz="2000" dirty="0">
                <a:solidFill>
                  <a:schemeClr val="tx1">
                    <a:lumMod val="95000"/>
                  </a:schemeClr>
                </a:solidFill>
                <a:latin typeface="Calibri"/>
              </a:rPr>
              <a:t>protection.</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More informative application.</a:t>
            </a:r>
            <a:endParaRPr lang="ru-RU" sz="2000" dirty="0">
              <a:solidFill>
                <a:schemeClr val="tx1">
                  <a:lumMod val="95000"/>
                </a:schemeClr>
              </a:solidFill>
              <a:latin typeface="Calibri"/>
            </a:endParaRPr>
          </a:p>
        </p:txBody>
      </p:sp>
    </p:spTree>
    <p:extLst>
      <p:ext uri="{BB962C8B-B14F-4D97-AF65-F5344CB8AC3E}">
        <p14:creationId xmlns:p14="http://schemas.microsoft.com/office/powerpoint/2010/main" val="1891704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16. Website Deployment (1 point)</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2708920"/>
            <a:ext cx="8229600" cy="3745888"/>
          </a:xfrm>
        </p:spPr>
        <p:txBody>
          <a:bodyPr>
            <a:normAutofit/>
          </a:bodyPr>
          <a:lstStyle/>
          <a:p>
            <a:pPr marL="64008" indent="0" algn="ctr">
              <a:buNone/>
            </a:pPr>
            <a:r>
              <a:rPr lang="en-US" sz="2000" dirty="0">
                <a:solidFill>
                  <a:schemeClr val="tx1">
                    <a:lumMod val="95000"/>
                  </a:schemeClr>
                </a:solidFill>
                <a:latin typeface="Calibri"/>
              </a:rPr>
              <a:t>Application deployed online.</a:t>
            </a:r>
            <a:endParaRPr lang="ru-RU" sz="2000" dirty="0">
              <a:solidFill>
                <a:schemeClr val="tx1">
                  <a:lumMod val="95000"/>
                </a:schemeClr>
              </a:solidFill>
              <a:latin typeface="Calibri"/>
            </a:endParaRP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Works on modern browsers.</a:t>
            </a:r>
            <a:endParaRPr lang="ru-RU" sz="2000" dirty="0">
              <a:solidFill>
                <a:schemeClr val="tx1">
                  <a:lumMod val="95000"/>
                </a:schemeClr>
              </a:solidFill>
              <a:latin typeface="Calibri"/>
            </a:endParaRPr>
          </a:p>
        </p:txBody>
      </p:sp>
    </p:spTree>
    <p:extLst>
      <p:ext uri="{BB962C8B-B14F-4D97-AF65-F5344CB8AC3E}">
        <p14:creationId xmlns:p14="http://schemas.microsoft.com/office/powerpoint/2010/main" val="1753400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Project management</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1556792"/>
            <a:ext cx="8229600" cy="4898016"/>
          </a:xfrm>
        </p:spPr>
        <p:txBody>
          <a:bodyPr>
            <a:normAutofit fontScale="92500" lnSpcReduction="20000"/>
          </a:bodyPr>
          <a:lstStyle/>
          <a:p>
            <a:r>
              <a:rPr lang="en-US" dirty="0">
                <a:latin typeface="Calibri" panose="020F0502020204030204" pitchFamily="34" charset="0"/>
                <a:ea typeface="Calibri" panose="020F0502020204030204" pitchFamily="34" charset="0"/>
                <a:cs typeface="Calibri" panose="020F0502020204030204" pitchFamily="34" charset="0"/>
              </a:rPr>
              <a:t>Tasks division: Andrei develops frontend, Kirill develops backend</a:t>
            </a:r>
          </a:p>
          <a:p>
            <a:r>
              <a:rPr lang="en-US" dirty="0">
                <a:latin typeface="Calibri" panose="020F0502020204030204" pitchFamily="34" charset="0"/>
                <a:ea typeface="Calibri" panose="020F0502020204030204" pitchFamily="34" charset="0"/>
                <a:cs typeface="Calibri" panose="020F0502020204030204" pitchFamily="34" charset="0"/>
              </a:rPr>
              <a:t>We implemented a structured Git workflow with dedicated branches:</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      main – Production-ready code (stable releases)</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      development – Integration branch for testing</a:t>
            </a:r>
          </a:p>
          <a:p>
            <a:pPr lvl="1">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      </a:t>
            </a:r>
            <a:r>
              <a:rPr lang="en-US" dirty="0" err="1">
                <a:latin typeface="Calibri" panose="020F0502020204030204" pitchFamily="34" charset="0"/>
                <a:ea typeface="Calibri" panose="020F0502020204030204" pitchFamily="34" charset="0"/>
                <a:cs typeface="Calibri" panose="020F0502020204030204" pitchFamily="34" charset="0"/>
              </a:rPr>
              <a:t>andrei</a:t>
            </a:r>
            <a:r>
              <a:rPr lang="en-US" dirty="0">
                <a:latin typeface="Calibri" panose="020F0502020204030204" pitchFamily="34" charset="0"/>
                <a:ea typeface="Calibri" panose="020F0502020204030204" pitchFamily="34" charset="0"/>
                <a:cs typeface="Calibri" panose="020F0502020204030204" pitchFamily="34" charset="0"/>
              </a:rPr>
              <a:t>/branch &amp; </a:t>
            </a:r>
            <a:r>
              <a:rPr lang="en-US" dirty="0" err="1">
                <a:latin typeface="Calibri" panose="020F0502020204030204" pitchFamily="34" charset="0"/>
                <a:ea typeface="Calibri" panose="020F0502020204030204" pitchFamily="34" charset="0"/>
                <a:cs typeface="Calibri" panose="020F0502020204030204" pitchFamily="34" charset="0"/>
              </a:rPr>
              <a:t>kirill</a:t>
            </a:r>
            <a:r>
              <a:rPr lang="en-US" dirty="0">
                <a:latin typeface="Calibri" panose="020F0502020204030204" pitchFamily="34" charset="0"/>
                <a:ea typeface="Calibri" panose="020F0502020204030204" pitchFamily="34" charset="0"/>
                <a:cs typeface="Calibri" panose="020F0502020204030204" pitchFamily="34" charset="0"/>
              </a:rPr>
              <a:t>/branch – Feature branches for    individual    development tasks</a:t>
            </a:r>
          </a:p>
          <a:p>
            <a:r>
              <a:rPr lang="en-US" dirty="0">
                <a:latin typeface="Calibri" panose="020F0502020204030204" pitchFamily="34" charset="0"/>
                <a:ea typeface="Calibri" panose="020F0502020204030204" pitchFamily="34" charset="0"/>
                <a:cs typeface="Calibri" panose="020F0502020204030204" pitchFamily="34" charset="0"/>
              </a:rPr>
              <a:t>Regular merges from feature branches to development and then to main.</a:t>
            </a:r>
          </a:p>
          <a:p>
            <a:r>
              <a:rPr lang="en-US" dirty="0">
                <a:latin typeface="Calibri" panose="020F0502020204030204" pitchFamily="34" charset="0"/>
                <a:ea typeface="Calibri" panose="020F0502020204030204" pitchFamily="34" charset="0"/>
                <a:cs typeface="Calibri" panose="020F0502020204030204" pitchFamily="34" charset="0"/>
              </a:rPr>
              <a:t>The main branch represents production deployments, while development serves as branch for testing.</a:t>
            </a:r>
          </a:p>
          <a:p>
            <a:pPr marL="64008" indent="0" algn="ctr">
              <a:buNone/>
            </a:pPr>
            <a:endParaRPr lang="ru-RU" sz="2000" dirty="0">
              <a:solidFill>
                <a:schemeClr val="tx1">
                  <a:lumMod val="95000"/>
                </a:schemeClr>
              </a:solidFill>
              <a:latin typeface="Calibri"/>
            </a:endParaRPr>
          </a:p>
        </p:txBody>
      </p:sp>
    </p:spTree>
    <p:extLst>
      <p:ext uri="{BB962C8B-B14F-4D97-AF65-F5344CB8AC3E}">
        <p14:creationId xmlns:p14="http://schemas.microsoft.com/office/powerpoint/2010/main" val="3337155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6A4DCB-9104-E65E-385A-885FC2606B28}"/>
              </a:ext>
            </a:extLst>
          </p:cNvPr>
          <p:cNvSpPr>
            <a:spLocks noGrp="1"/>
          </p:cNvSpPr>
          <p:nvPr>
            <p:ph type="title"/>
          </p:nvPr>
        </p:nvSpPr>
        <p:spPr/>
        <p:txBody>
          <a:bodyPr/>
          <a:lstStyle/>
          <a:p>
            <a:r>
              <a:rPr lang="fi-FI" dirty="0"/>
              <a:t>Documentation</a:t>
            </a:r>
            <a:endParaRPr lang="ru-RU" dirty="0"/>
          </a:p>
        </p:txBody>
      </p:sp>
      <p:sp>
        <p:nvSpPr>
          <p:cNvPr id="3" name="Объект 2">
            <a:extLst>
              <a:ext uri="{FF2B5EF4-FFF2-40B4-BE49-F238E27FC236}">
                <a16:creationId xmlns:a16="http://schemas.microsoft.com/office/drawing/2014/main" id="{4474249E-CBA9-AC3B-6D63-7036B41C4A88}"/>
              </a:ext>
            </a:extLst>
          </p:cNvPr>
          <p:cNvSpPr>
            <a:spLocks noGrp="1"/>
          </p:cNvSpPr>
          <p:nvPr>
            <p:ph idx="1"/>
          </p:nvPr>
        </p:nvSpPr>
        <p:spPr/>
        <p:txBody>
          <a:bodyPr/>
          <a:lstStyle/>
          <a:p>
            <a:r>
              <a:rPr lang="fi-FI" dirty="0"/>
              <a:t>Database diagram</a:t>
            </a:r>
          </a:p>
          <a:p>
            <a:r>
              <a:rPr lang="fi-FI" dirty="0"/>
              <a:t>UI design plan</a:t>
            </a:r>
          </a:p>
          <a:p>
            <a:r>
              <a:rPr lang="fi-FI" dirty="0"/>
              <a:t>Product backlog (on GitHub)</a:t>
            </a:r>
          </a:p>
        </p:txBody>
      </p:sp>
    </p:spTree>
    <p:extLst>
      <p:ext uri="{BB962C8B-B14F-4D97-AF65-F5344CB8AC3E}">
        <p14:creationId xmlns:p14="http://schemas.microsoft.com/office/powerpoint/2010/main" val="939929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sz="3200" b="1" dirty="0">
                <a:solidFill>
                  <a:schemeClr val="accent1">
                    <a:lumMod val="60000"/>
                    <a:lumOff val="40000"/>
                  </a:schemeClr>
                </a:solidFill>
                <a:latin typeface="Calibri"/>
              </a:rPr>
              <a:t>Summary</a:t>
            </a:r>
            <a:endParaRPr lang="ru-RU" sz="3200" b="1" dirty="0">
              <a:solidFill>
                <a:schemeClr val="accent1">
                  <a:lumMod val="60000"/>
                  <a:lumOff val="40000"/>
                </a:schemeClr>
              </a:solidFill>
              <a:latin typeface="Calibri"/>
            </a:endParaRPr>
          </a:p>
        </p:txBody>
      </p:sp>
      <p:sp>
        <p:nvSpPr>
          <p:cNvPr id="3" name="Текст 2"/>
          <p:cNvSpPr>
            <a:spLocks noGrp="1"/>
          </p:cNvSpPr>
          <p:nvPr>
            <p:ph idx="1"/>
          </p:nvPr>
        </p:nvSpPr>
        <p:spPr>
          <a:xfrm>
            <a:off x="457200" y="2564904"/>
            <a:ext cx="8229600" cy="3889904"/>
          </a:xfrm>
        </p:spPr>
        <p:txBody>
          <a:bodyPr>
            <a:normAutofit/>
          </a:bodyPr>
          <a:lstStyle/>
          <a:p>
            <a:pPr marL="64008" indent="0" algn="ctr">
              <a:buNone/>
            </a:pPr>
            <a:r>
              <a:rPr lang="fi-FI" sz="2000" dirty="0">
                <a:solidFill>
                  <a:schemeClr val="tx1">
                    <a:lumMod val="95000"/>
                  </a:schemeClr>
                </a:solidFill>
                <a:latin typeface="Calibri"/>
              </a:rPr>
              <a:t>Almost </a:t>
            </a:r>
            <a:r>
              <a:rPr lang="en-US" sz="2000" dirty="0">
                <a:solidFill>
                  <a:schemeClr val="tx1">
                    <a:lumMod val="95000"/>
                  </a:schemeClr>
                </a:solidFill>
                <a:latin typeface="Calibri"/>
              </a:rPr>
              <a:t>all required features implemented (18/20).</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Almost all required documents (3/6).</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Responsive and multilingual.</a:t>
            </a:r>
          </a:p>
          <a:p>
            <a:pPr marL="64008" indent="0" algn="ctr">
              <a:buNone/>
            </a:pPr>
            <a:endParaRPr lang="en-US" sz="2000" dirty="0">
              <a:solidFill>
                <a:schemeClr val="tx1">
                  <a:lumMod val="95000"/>
                </a:schemeClr>
              </a:solidFill>
              <a:latin typeface="Calibri"/>
            </a:endParaRPr>
          </a:p>
          <a:p>
            <a:pPr marL="64008" indent="0" algn="ctr">
              <a:buNone/>
            </a:pPr>
            <a:r>
              <a:rPr lang="en-US" sz="2000" dirty="0">
                <a:solidFill>
                  <a:schemeClr val="tx1">
                    <a:lumMod val="95000"/>
                  </a:schemeClr>
                </a:solidFill>
                <a:latin typeface="Calibri"/>
              </a:rPr>
              <a:t>Modern technologies and APIs used.</a:t>
            </a:r>
            <a:endParaRPr lang="ru-RU" sz="2000" dirty="0">
              <a:solidFill>
                <a:schemeClr val="tx1">
                  <a:lumMod val="95000"/>
                </a:schemeClr>
              </a:solidFill>
              <a:latin typeface="Calibri"/>
            </a:endParaRPr>
          </a:p>
        </p:txBody>
      </p:sp>
    </p:spTree>
    <p:extLst>
      <p:ext uri="{BB962C8B-B14F-4D97-AF65-F5344CB8AC3E}">
        <p14:creationId xmlns:p14="http://schemas.microsoft.com/office/powerpoint/2010/main" val="4086063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Яркая">
  <a:themeElements>
    <a:clrScheme name="Яркая">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Яркая">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Яркая">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251</TotalTime>
  <Words>850</Words>
  <Application>Microsoft Office PowerPoint</Application>
  <PresentationFormat>On-screen Show (4:3)</PresentationFormat>
  <Paragraphs>108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Century Gothic</vt:lpstr>
      <vt:lpstr>Verdana</vt:lpstr>
      <vt:lpstr>Wingdings 2</vt:lpstr>
      <vt:lpstr>Яркая</vt:lpstr>
      <vt:lpstr>KINODROCH –  Movie and TV Series Application</vt:lpstr>
      <vt:lpstr>Project Goal</vt:lpstr>
      <vt:lpstr>1. Responsiveness (2 points)</vt:lpstr>
      <vt:lpstr>2–4. User Account Management (2/3 points)</vt:lpstr>
      <vt:lpstr>5. Search (2 points)</vt:lpstr>
      <vt:lpstr>6. Now Playing in Theaters (1 point)</vt:lpstr>
      <vt:lpstr>7–10. Groups (6 points)</vt:lpstr>
      <vt:lpstr>11–12. Reviews (2 points)</vt:lpstr>
      <vt:lpstr>13–14. Favorites List (1/2 points)</vt:lpstr>
      <vt:lpstr>15. Optional Feature (1 point)</vt:lpstr>
      <vt:lpstr>16. Website Deployment (1 point)</vt:lpstr>
      <vt:lpstr>Project management</vt:lpstr>
      <vt:lpstr>Documentation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KINODROCH –  Movie and TV Series Application</dc:title>
  <dc:creator>Home-Comp</dc:creator>
  <cp:lastModifiedBy>Kirill Cheremisin</cp:lastModifiedBy>
  <cp:revision>42</cp:revision>
  <dcterms:created xsi:type="dcterms:W3CDTF">2025-12-16T23:50:18Z</dcterms:created>
  <dcterms:modified xsi:type="dcterms:W3CDTF">2025-12-18T12:09:00Z</dcterms:modified>
</cp:coreProperties>
</file>